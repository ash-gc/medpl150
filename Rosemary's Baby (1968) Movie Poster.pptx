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470efe71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470efe71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470efe71c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470efe71c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470efe71c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470efe71c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470efe71c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470efe71c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470efe71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470efe71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470efe71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470efe71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470efe71c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470efe71c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688200" y="541950"/>
            <a:ext cx="2014500" cy="175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00">
                <a:solidFill>
                  <a:srgbClr val="EFEFEF"/>
                </a:solidFill>
              </a:rPr>
              <a:t>Movie </a:t>
            </a:r>
            <a:endParaRPr sz="3500">
              <a:solidFill>
                <a:srgbClr val="EFEFE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00">
                <a:solidFill>
                  <a:srgbClr val="EFEFEF"/>
                </a:solidFill>
              </a:rPr>
              <a:t>Poster </a:t>
            </a:r>
            <a:endParaRPr sz="3500">
              <a:solidFill>
                <a:srgbClr val="EFEFE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00">
                <a:solidFill>
                  <a:srgbClr val="EFEFEF"/>
                </a:solidFill>
              </a:rPr>
              <a:t>Analysis</a:t>
            </a:r>
            <a:endParaRPr sz="3500">
              <a:solidFill>
                <a:srgbClr val="EFEFEF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646650" y="2571750"/>
            <a:ext cx="2097600" cy="14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9"/>
              <a:buFont typeface="Arial"/>
              <a:buNone/>
            </a:pPr>
            <a:r>
              <a:rPr lang="en" sz="4500">
                <a:solidFill>
                  <a:srgbClr val="EFEFEF"/>
                </a:solidFill>
              </a:rPr>
              <a:t>Rosemary's </a:t>
            </a:r>
            <a:endParaRPr sz="4500">
              <a:solidFill>
                <a:srgbClr val="EFEFE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9"/>
              <a:buFont typeface="Arial"/>
              <a:buNone/>
            </a:pPr>
            <a:r>
              <a:rPr lang="en" sz="4500">
                <a:solidFill>
                  <a:srgbClr val="EFEFEF"/>
                </a:solidFill>
              </a:rPr>
              <a:t>Baby </a:t>
            </a:r>
            <a:endParaRPr sz="4500">
              <a:solidFill>
                <a:srgbClr val="EFEFE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9"/>
              <a:buFont typeface="Arial"/>
              <a:buNone/>
            </a:pPr>
            <a:r>
              <a:rPr lang="en" sz="4500">
                <a:solidFill>
                  <a:srgbClr val="EFEFEF"/>
                </a:solidFill>
              </a:rPr>
              <a:t>(1968)</a:t>
            </a:r>
            <a:r>
              <a:rPr lang="en" sz="3500">
                <a:solidFill>
                  <a:srgbClr val="EFEFEF"/>
                </a:solidFill>
              </a:rPr>
              <a:t> 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7080" y="541950"/>
            <a:ext cx="5391620" cy="40595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5236500" y="4665475"/>
            <a:ext cx="34122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Ashley Gonzalez MEDPL 150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solidFill>
            <a:schemeClr val="dk1"/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Context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389600"/>
            <a:ext cx="2808000" cy="36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1968 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Beginning of Second Wave Feminism Movement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Pre-Roe v. Wade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Modernist style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Graphic Designer: </a:t>
            </a:r>
            <a:r>
              <a:rPr lang="en" sz="1400">
                <a:solidFill>
                  <a:schemeClr val="dk1"/>
                </a:solidFill>
              </a:rPr>
              <a:t>Philip Gips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Genre: Horror/Psychological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9700" y="152400"/>
            <a:ext cx="3170673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>
            <p:ph type="title"/>
          </p:nvPr>
        </p:nvSpPr>
        <p:spPr>
          <a:xfrm>
            <a:off x="6290375" y="555600"/>
            <a:ext cx="2808000" cy="755700"/>
          </a:xfrm>
          <a:prstGeom prst="rect">
            <a:avLst/>
          </a:prstGeom>
          <a:solidFill>
            <a:schemeClr val="dk1"/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Themes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6290375" y="1389599"/>
            <a:ext cx="2808000" cy="258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619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Agency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Capitalism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Motherhood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261875" y="112000"/>
            <a:ext cx="4045200" cy="5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Economy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72" name="Google Shape;72;p15"/>
          <p:cNvSpPr txBox="1"/>
          <p:nvPr>
            <p:ph idx="2" type="body"/>
          </p:nvPr>
        </p:nvSpPr>
        <p:spPr>
          <a:xfrm>
            <a:off x="365975" y="588125"/>
            <a:ext cx="3837000" cy="20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>
                <a:solidFill>
                  <a:schemeClr val="lt2"/>
                </a:solidFill>
              </a:rPr>
              <a:t>Negative space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>
                <a:solidFill>
                  <a:schemeClr val="lt2"/>
                </a:solidFill>
              </a:rPr>
              <a:t>2 objects: </a:t>
            </a:r>
            <a:r>
              <a:rPr lang="en">
                <a:solidFill>
                  <a:schemeClr val="lt2"/>
                </a:solidFill>
              </a:rPr>
              <a:t>silhouette</a:t>
            </a:r>
            <a:r>
              <a:rPr lang="en">
                <a:solidFill>
                  <a:schemeClr val="lt2"/>
                </a:solidFill>
              </a:rPr>
              <a:t> of carriage, Rosemary’s profile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>
                <a:solidFill>
                  <a:schemeClr val="lt2"/>
                </a:solidFill>
              </a:rPr>
              <a:t>Monochromatic Color Scheme</a:t>
            </a:r>
            <a:endParaRPr>
              <a:solidFill>
                <a:schemeClr val="lt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73" name="Google Shape;73;p15" title="AdobeColor-color theme_Screenshot 2026-04-03 at 3.jpeg"/>
          <p:cNvPicPr preferRelativeResize="0"/>
          <p:nvPr/>
        </p:nvPicPr>
        <p:blipFill rotWithShape="1">
          <a:blip r:embed="rId3">
            <a:alphaModFix/>
          </a:blip>
          <a:srcRect b="19322" l="0" r="0" t="0"/>
          <a:stretch/>
        </p:blipFill>
        <p:spPr>
          <a:xfrm>
            <a:off x="4572000" y="363500"/>
            <a:ext cx="3648450" cy="441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 title="Screenshot 2026-04-03 at 3.01.45 PM.png"/>
          <p:cNvPicPr preferRelativeResize="0"/>
          <p:nvPr/>
        </p:nvPicPr>
        <p:blipFill rotWithShape="1">
          <a:blip r:embed="rId4">
            <a:alphaModFix/>
          </a:blip>
          <a:srcRect b="17801" l="17442" r="8555" t="2626"/>
          <a:stretch/>
        </p:blipFill>
        <p:spPr>
          <a:xfrm>
            <a:off x="1091129" y="2168775"/>
            <a:ext cx="2386700" cy="31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261875" y="112000"/>
            <a:ext cx="4045200" cy="5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Color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80" name="Google Shape;80;p16"/>
          <p:cNvSpPr txBox="1"/>
          <p:nvPr>
            <p:ph idx="2" type="body"/>
          </p:nvPr>
        </p:nvSpPr>
        <p:spPr>
          <a:xfrm>
            <a:off x="365975" y="546250"/>
            <a:ext cx="3837000" cy="20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>
                <a:solidFill>
                  <a:schemeClr val="lt2"/>
                </a:solidFill>
              </a:rPr>
              <a:t>Monochromatic Color Scheme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>
                <a:solidFill>
                  <a:schemeClr val="lt2"/>
                </a:solidFill>
              </a:rPr>
              <a:t>Green: fertility, sickness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>
                <a:solidFill>
                  <a:schemeClr val="lt2"/>
                </a:solidFill>
              </a:rPr>
              <a:t>Black: </a:t>
            </a:r>
            <a:r>
              <a:rPr lang="en">
                <a:solidFill>
                  <a:schemeClr val="lt2"/>
                </a:solidFill>
              </a:rPr>
              <a:t>silhouette, dominant negative space</a:t>
            </a:r>
            <a:endParaRPr>
              <a:solidFill>
                <a:schemeClr val="lt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81" name="Google Shape;81;p16" title="AdobeColor-color theme_Screenshot 2026-04-03 at 3.jpeg"/>
          <p:cNvPicPr preferRelativeResize="0"/>
          <p:nvPr/>
        </p:nvPicPr>
        <p:blipFill rotWithShape="1">
          <a:blip r:embed="rId3">
            <a:alphaModFix/>
          </a:blip>
          <a:srcRect b="19322" l="0" r="0" t="0"/>
          <a:stretch/>
        </p:blipFill>
        <p:spPr>
          <a:xfrm>
            <a:off x="4572000" y="363500"/>
            <a:ext cx="3648450" cy="4416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 title="Screenshot 2026-04-03 at 3.01.45 PM.png"/>
          <p:cNvPicPr preferRelativeResize="0"/>
          <p:nvPr/>
        </p:nvPicPr>
        <p:blipFill rotWithShape="1">
          <a:blip r:embed="rId4">
            <a:alphaModFix/>
          </a:blip>
          <a:srcRect b="17801" l="17442" r="8555" t="2626"/>
          <a:stretch/>
        </p:blipFill>
        <p:spPr>
          <a:xfrm>
            <a:off x="1091129" y="2168775"/>
            <a:ext cx="2386700" cy="31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idx="1" type="subTitle"/>
          </p:nvPr>
        </p:nvSpPr>
        <p:spPr>
          <a:xfrm>
            <a:off x="261875" y="185275"/>
            <a:ext cx="4045200" cy="5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Composition and Space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88" name="Google Shape;88;p17"/>
          <p:cNvSpPr txBox="1"/>
          <p:nvPr>
            <p:ph idx="2" type="body"/>
          </p:nvPr>
        </p:nvSpPr>
        <p:spPr>
          <a:xfrm>
            <a:off x="470075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lt2"/>
                </a:solidFill>
              </a:rPr>
              <a:t>Rule of Thirds </a:t>
            </a:r>
            <a:endParaRPr u="sng"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>
                <a:solidFill>
                  <a:schemeClr val="lt2"/>
                </a:solidFill>
              </a:rPr>
              <a:t>Top: Green negative space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>
                <a:solidFill>
                  <a:schemeClr val="lt2"/>
                </a:solidFill>
              </a:rPr>
              <a:t>Middle : Rosemary’s profile and silhouette of baby carriage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>
                <a:solidFill>
                  <a:schemeClr val="lt2"/>
                </a:solidFill>
              </a:rPr>
              <a:t>Bottom: Black Cliff/Mountain negative space 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Top and Bottom enclose and oppress Rosemary.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2"/>
                </a:solidFill>
              </a:rPr>
              <a:t>Rosemary pushed into background while carriage is pulled </a:t>
            </a:r>
            <a:r>
              <a:rPr lang="en">
                <a:solidFill>
                  <a:schemeClr val="lt2"/>
                </a:solidFill>
              </a:rPr>
              <a:t>forward</a:t>
            </a:r>
            <a:r>
              <a:rPr lang="en">
                <a:solidFill>
                  <a:schemeClr val="lt2"/>
                </a:solidFill>
              </a:rPr>
              <a:t>. 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89" name="Google Shape;89;p17" title="Screenshot 2026-04-03 at 3.01.45 PM.png"/>
          <p:cNvPicPr preferRelativeResize="0"/>
          <p:nvPr/>
        </p:nvPicPr>
        <p:blipFill rotWithShape="1">
          <a:blip r:embed="rId3">
            <a:alphaModFix/>
          </a:blip>
          <a:srcRect b="17801" l="17442" r="8555" t="2626"/>
          <a:stretch/>
        </p:blipFill>
        <p:spPr>
          <a:xfrm>
            <a:off x="4929361" y="0"/>
            <a:ext cx="3959580" cy="5143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Google Shape;90;p17"/>
          <p:cNvCxnSpPr/>
          <p:nvPr/>
        </p:nvCxnSpPr>
        <p:spPr>
          <a:xfrm>
            <a:off x="5014650" y="1485275"/>
            <a:ext cx="37890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7"/>
          <p:cNvCxnSpPr/>
          <p:nvPr/>
        </p:nvCxnSpPr>
        <p:spPr>
          <a:xfrm>
            <a:off x="5013086" y="3354260"/>
            <a:ext cx="37890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/>
        </p:nvSpPr>
        <p:spPr>
          <a:xfrm>
            <a:off x="0" y="-295875"/>
            <a:ext cx="4179300" cy="543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Modernist typeface: Sans Serif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Typeface: </a:t>
            </a:r>
            <a:r>
              <a:rPr lang="en" sz="1800">
                <a:solidFill>
                  <a:schemeClr val="dk1"/>
                </a:solidFill>
              </a:rPr>
              <a:t>Leading, Tracking, Kearning are tightknit (ie:the “r”,“y” and apostrophe overlapping)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Colors: white text on black / black text on white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97" name="Google Shape;97;p18" title="prayforrosema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9767" y="-261676"/>
            <a:ext cx="4964700" cy="2983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 title="rosemarybab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983453"/>
            <a:ext cx="4572001" cy="151024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/>
          <p:nvPr/>
        </p:nvSpPr>
        <p:spPr>
          <a:xfrm>
            <a:off x="4780800" y="3137325"/>
            <a:ext cx="4179300" cy="16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L</a:t>
            </a:r>
            <a:r>
              <a:rPr lang="en" sz="1800">
                <a:solidFill>
                  <a:schemeClr val="dk1"/>
                </a:solidFill>
              </a:rPr>
              <a:t>ate modernist poster: Grid, Clarity, minimalist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Centered Alignment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/>
        </p:nvSpPr>
        <p:spPr>
          <a:xfrm>
            <a:off x="0" y="25"/>
            <a:ext cx="41793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Grid: secrets hiding in orderly structure, </a:t>
            </a:r>
            <a:r>
              <a:rPr lang="en" sz="1800">
                <a:solidFill>
                  <a:schemeClr val="dk1"/>
                </a:solidFill>
              </a:rPr>
              <a:t>asymmetrical</a:t>
            </a:r>
            <a:r>
              <a:rPr lang="en" sz="1800">
                <a:solidFill>
                  <a:schemeClr val="dk1"/>
                </a:solidFill>
              </a:rPr>
              <a:t> layout as inverted cross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Font: </a:t>
            </a:r>
            <a:r>
              <a:rPr lang="en" sz="1800">
                <a:solidFill>
                  <a:schemeClr val="dk1"/>
                </a:solidFill>
              </a:rPr>
              <a:t>claustrophobic in negative space , the “m” and “b” connecting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Movement: downwards (</a:t>
            </a:r>
            <a:r>
              <a:rPr lang="en" sz="1800">
                <a:solidFill>
                  <a:schemeClr val="dk1"/>
                </a:solidFill>
              </a:rPr>
              <a:t>descent</a:t>
            </a:r>
            <a:r>
              <a:rPr lang="en" sz="1800">
                <a:solidFill>
                  <a:schemeClr val="dk1"/>
                </a:solidFill>
              </a:rPr>
              <a:t>), repetition (feeling of </a:t>
            </a:r>
            <a:r>
              <a:rPr lang="en" sz="1800">
                <a:solidFill>
                  <a:schemeClr val="dk1"/>
                </a:solidFill>
              </a:rPr>
              <a:t>inevitability</a:t>
            </a:r>
            <a:r>
              <a:rPr lang="en" sz="1800">
                <a:solidFill>
                  <a:schemeClr val="dk1"/>
                </a:solidFill>
              </a:rPr>
              <a:t>)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05" name="Google Shape;105;p19" title="prayforrosema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9300" y="0"/>
            <a:ext cx="4964700" cy="2983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 title="rosemarybab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983453"/>
            <a:ext cx="4572001" cy="151024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 txBox="1"/>
          <p:nvPr/>
        </p:nvSpPr>
        <p:spPr>
          <a:xfrm>
            <a:off x="4780800" y="3129725"/>
            <a:ext cx="4179300" cy="18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</a:t>
            </a:r>
            <a:r>
              <a:rPr lang="en" sz="1800">
                <a:solidFill>
                  <a:schemeClr val="dk1"/>
                </a:solidFill>
              </a:rPr>
              <a:t>vil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The Occult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108" name="Google Shape;108;p19"/>
          <p:cNvCxnSpPr/>
          <p:nvPr/>
        </p:nvCxnSpPr>
        <p:spPr>
          <a:xfrm>
            <a:off x="5808100" y="266125"/>
            <a:ext cx="1765800" cy="0"/>
          </a:xfrm>
          <a:prstGeom prst="straightConnector1">
            <a:avLst/>
          </a:prstGeom>
          <a:solidFill>
            <a:srgbClr val="EFEFEF"/>
          </a:solidFill>
          <a:ln cap="flat" cmpd="sng" w="762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19"/>
          <p:cNvCxnSpPr/>
          <p:nvPr/>
        </p:nvCxnSpPr>
        <p:spPr>
          <a:xfrm>
            <a:off x="5727814" y="2738350"/>
            <a:ext cx="1829100" cy="0"/>
          </a:xfrm>
          <a:prstGeom prst="straightConnector1">
            <a:avLst/>
          </a:prstGeom>
          <a:solidFill>
            <a:srgbClr val="EFEFEF"/>
          </a:solidFill>
          <a:ln cap="flat" cmpd="sng" w="762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9"/>
          <p:cNvCxnSpPr/>
          <p:nvPr/>
        </p:nvCxnSpPr>
        <p:spPr>
          <a:xfrm>
            <a:off x="7573975" y="271475"/>
            <a:ext cx="0" cy="90450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9"/>
          <p:cNvCxnSpPr/>
          <p:nvPr/>
        </p:nvCxnSpPr>
        <p:spPr>
          <a:xfrm>
            <a:off x="5808100" y="271475"/>
            <a:ext cx="0" cy="90450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19"/>
          <p:cNvCxnSpPr/>
          <p:nvPr/>
        </p:nvCxnSpPr>
        <p:spPr>
          <a:xfrm>
            <a:off x="4641575" y="1213225"/>
            <a:ext cx="1203900" cy="0"/>
          </a:xfrm>
          <a:prstGeom prst="straightConnector1">
            <a:avLst/>
          </a:prstGeom>
          <a:solidFill>
            <a:srgbClr val="EFEFEF"/>
          </a:solidFill>
          <a:ln cap="flat" cmpd="sng" w="762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19"/>
          <p:cNvCxnSpPr/>
          <p:nvPr/>
        </p:nvCxnSpPr>
        <p:spPr>
          <a:xfrm>
            <a:off x="7536431" y="1175974"/>
            <a:ext cx="1059600" cy="0"/>
          </a:xfrm>
          <a:prstGeom prst="straightConnector1">
            <a:avLst/>
          </a:prstGeom>
          <a:solidFill>
            <a:srgbClr val="EFEFEF"/>
          </a:solidFill>
          <a:ln cap="flat" cmpd="sng" w="762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19"/>
          <p:cNvCxnSpPr/>
          <p:nvPr/>
        </p:nvCxnSpPr>
        <p:spPr>
          <a:xfrm>
            <a:off x="7573906" y="2131049"/>
            <a:ext cx="1059600" cy="0"/>
          </a:xfrm>
          <a:prstGeom prst="straightConnector1">
            <a:avLst/>
          </a:prstGeom>
          <a:solidFill>
            <a:srgbClr val="EFEFEF"/>
          </a:solidFill>
          <a:ln cap="flat" cmpd="sng" w="762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19"/>
          <p:cNvCxnSpPr/>
          <p:nvPr/>
        </p:nvCxnSpPr>
        <p:spPr>
          <a:xfrm>
            <a:off x="4641581" y="2131049"/>
            <a:ext cx="1059600" cy="0"/>
          </a:xfrm>
          <a:prstGeom prst="straightConnector1">
            <a:avLst/>
          </a:prstGeom>
          <a:solidFill>
            <a:srgbClr val="EFEFEF"/>
          </a:solidFill>
          <a:ln cap="flat" cmpd="sng" w="762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" name="Google Shape;116;p19"/>
          <p:cNvCxnSpPr/>
          <p:nvPr/>
        </p:nvCxnSpPr>
        <p:spPr>
          <a:xfrm>
            <a:off x="8633500" y="1193129"/>
            <a:ext cx="0" cy="90450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9"/>
          <p:cNvCxnSpPr/>
          <p:nvPr/>
        </p:nvCxnSpPr>
        <p:spPr>
          <a:xfrm>
            <a:off x="4624864" y="1226554"/>
            <a:ext cx="0" cy="90450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19"/>
          <p:cNvCxnSpPr/>
          <p:nvPr/>
        </p:nvCxnSpPr>
        <p:spPr>
          <a:xfrm>
            <a:off x="7599046" y="2122697"/>
            <a:ext cx="0" cy="65160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9"/>
          <p:cNvCxnSpPr/>
          <p:nvPr/>
        </p:nvCxnSpPr>
        <p:spPr>
          <a:xfrm>
            <a:off x="5708537" y="2097622"/>
            <a:ext cx="0" cy="65160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-1150" y="640925"/>
            <a:ext cx="3644400" cy="3500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-327819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 sz="6250">
                <a:solidFill>
                  <a:schemeClr val="lt1"/>
                </a:solidFill>
              </a:rPr>
              <a:t>The Baby’s Carriage</a:t>
            </a:r>
            <a:endParaRPr sz="6250">
              <a:solidFill>
                <a:schemeClr val="lt1"/>
              </a:solidFill>
            </a:endParaRPr>
          </a:p>
          <a:p>
            <a:pPr indent="-327819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" sz="6250">
                <a:solidFill>
                  <a:schemeClr val="lt1"/>
                </a:solidFill>
              </a:rPr>
              <a:t>Foreground</a:t>
            </a:r>
            <a:endParaRPr sz="6250">
              <a:solidFill>
                <a:schemeClr val="lt1"/>
              </a:solidFill>
            </a:endParaRPr>
          </a:p>
          <a:p>
            <a:pPr indent="-327819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" sz="6250">
                <a:solidFill>
                  <a:schemeClr val="lt1"/>
                </a:solidFill>
              </a:rPr>
              <a:t>Absolute Center Point</a:t>
            </a:r>
            <a:endParaRPr sz="6250">
              <a:solidFill>
                <a:schemeClr val="lt1"/>
              </a:solidFill>
            </a:endParaRPr>
          </a:p>
          <a:p>
            <a:pPr indent="-327819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" sz="6250">
                <a:solidFill>
                  <a:schemeClr val="lt1"/>
                </a:solidFill>
              </a:rPr>
              <a:t>Black color with negative space becomes dominant</a:t>
            </a:r>
            <a:endParaRPr sz="6250">
              <a:solidFill>
                <a:schemeClr val="lt1"/>
              </a:solidFill>
            </a:endParaRPr>
          </a:p>
          <a:p>
            <a:pPr indent="-327819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en" sz="6250">
                <a:solidFill>
                  <a:schemeClr val="lt1"/>
                </a:solidFill>
              </a:rPr>
              <a:t>Rosemary</a:t>
            </a:r>
            <a:endParaRPr sz="6250">
              <a:solidFill>
                <a:schemeClr val="lt1"/>
              </a:solidFill>
            </a:endParaRPr>
          </a:p>
          <a:p>
            <a:pPr indent="-327819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" sz="6250">
                <a:solidFill>
                  <a:schemeClr val="lt1"/>
                </a:solidFill>
              </a:rPr>
              <a:t>Large in scale…</a:t>
            </a:r>
            <a:endParaRPr sz="6250">
              <a:solidFill>
                <a:schemeClr val="lt1"/>
              </a:solidFill>
            </a:endParaRPr>
          </a:p>
          <a:p>
            <a:pPr indent="-327819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" sz="6250">
                <a:solidFill>
                  <a:schemeClr val="lt1"/>
                </a:solidFill>
              </a:rPr>
              <a:t>Rosemary blending into background</a:t>
            </a:r>
            <a:endParaRPr sz="6250">
              <a:solidFill>
                <a:schemeClr val="lt1"/>
              </a:solidFill>
            </a:endParaRPr>
          </a:p>
          <a:p>
            <a:pPr indent="-327819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" sz="6250">
                <a:solidFill>
                  <a:schemeClr val="lt1"/>
                </a:solidFill>
              </a:rPr>
              <a:t>Sickly black eyes</a:t>
            </a:r>
            <a:endParaRPr sz="6250">
              <a:solidFill>
                <a:schemeClr val="lt1"/>
              </a:solidFill>
            </a:endParaRPr>
          </a:p>
          <a:p>
            <a:pPr indent="-327819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○"/>
            </a:pPr>
            <a:r>
              <a:rPr lang="en" sz="6250">
                <a:solidFill>
                  <a:schemeClr val="lt1"/>
                </a:solidFill>
              </a:rPr>
              <a:t>Laying down, passivity</a:t>
            </a:r>
            <a:endParaRPr sz="62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3250" y="-55125"/>
            <a:ext cx="5572850" cy="419602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0"/>
          <p:cNvSpPr txBox="1"/>
          <p:nvPr>
            <p:ph type="title"/>
          </p:nvPr>
        </p:nvSpPr>
        <p:spPr>
          <a:xfrm>
            <a:off x="154700" y="68225"/>
            <a:ext cx="333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Hierarchy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33450" y="4403850"/>
            <a:ext cx="90771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</a:rPr>
              <a:t>What does this poster suggest about how society viewed/views women’s bodies? 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